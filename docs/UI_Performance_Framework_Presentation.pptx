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12192000" cy="73152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Performance Testing</a:t>
            </a:r>
            <a:endParaRPr lang="en-US" sz="4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Analysis Framework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374904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end-to-end platform for authoring, executing, analyzing, and acting on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performance tests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4937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Testing  •  Load Testing  •  ML Intelligence  •  Quality Gates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 &amp; Capabilities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&amp; Tech Stack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Engines (Synthetic + Load)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Lighthouse Scoring Methodology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Gates &amp; Gating Strategy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Intelligence &amp; Analytics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Pages &amp; UX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Role-Based Access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&amp; CI/CD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&amp; Q&amp;A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framework do?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Capabilities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412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Synthetic Testing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Playwright + Lighthouse collects Core Web Vitals (LCP, FCP, INP, CLS, TTFB, TBT) and Lighthouse audit scores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Concurrent Load Testing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k6 browser adapter with staged VU ramp, server telemetry correlation, saturation detection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Threshold, baseline-relative, statistical, VU-tiered, and server-resource gates with 3-of-5 quorum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 Intelligence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 feature attribution, Prophet forecasting, CUSUM/EWMA change-point detection, anomaly feed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Real-User Monitoring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RUM event pipeline with p75 aggregation and CrUX snapshot integration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NL Test Authoring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Six-stage pipeline: intent parse → page recon → locator synthesis → script assembly → validation → scoring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CI/CD Integration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Check Runs, commit statuses, Slack/webhook notifications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Multi-Geo Testing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Fan-out dispatch across WPT agents and k6 browser instances with cross-region comparison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Monorepo with 5 packages, Docker Compose orchestration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46304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46304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(Next.js 15)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4200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63440" y="146304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25400">
            <a:solidFill>
              <a:srgbClr val="14B8A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46304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Server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(NestJS 10)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4000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0" y="146304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1E293B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0" y="146304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(Playwright +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Lighthouse)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384048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43200" y="38404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16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0" y="3840480"/>
            <a:ext cx="2743200" cy="1097280"/>
          </a:xfrm>
          <a:prstGeom prst="roundRect">
            <a:avLst>
              <a:gd name="adj" fmla="val 8333"/>
            </a:avLst>
          </a:prstGeom>
          <a:solidFill>
            <a:srgbClr val="1E293B"/>
          </a:solidFill>
          <a:ln w="25400">
            <a:solidFill>
              <a:srgbClr val="06B6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3840480"/>
            <a:ext cx="2743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Types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Validators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4720" y="17373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</a:rPr>
              <a:t>→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06640" y="1737360"/>
            <a:ext cx="1188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</a:rPr>
              <a:t>→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394960" y="28346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4A3B8"/>
                </a:solidFill>
              </a:rPr>
              <a:t>↓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731520" y="5669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orchestrates all services  •  npm workspaces monorepo  •  Shared TypeScript config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412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Technology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Frontend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Next.js 15, React 19, TanStack Query, Tailwind CSS 4, Recharts, Lucide React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Backend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NestJS 10, TypeScript 5, Node.js 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PostgreSQL 16 (11 migration sets)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Engines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Playwright + Lighthouse, k6 Browser, WebPageTest, sitespeed.io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Containerization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Docker, Docker Compose (Postgres, API, Dashboard, Worker services)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CI/CD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GitHub Actions — test → lint → build → migration verification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Storage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Local filesystem (S3-ready abstraction)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Engines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testing with Playwright + Lighthouse, load testing with k6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Testing — Playwright + Lighthouse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launches headless Chrome via chrome-launcher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Lighthouse runs audits for: performance, accessibility, best-practices, seo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Extracts Core Web Vitals: LCP, FCP, CLS, TTFB, TBT, Speed Index, TTI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desktop mode (no throttling) and mobile mode (4× CPU, simulated 4G)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 iterations per run — results aggregated by median for stability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Lighthouse reports stored as artifacts for drill-down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Pluggable engine interface — WebPageTest and sitespeed.io adapters ready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Testing — k6 Browser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Concurrent virtual users (VUs) with staged ramp profiles (e.g., 10 → 50 → 100 → peak)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telemetry correlation — CPU, memory, event-loop lag captured per snapshot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Saturation detection — identifies the VU count where metrics degrade significantly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planning — headroom estimation and infrastructure recommendations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estimation per load run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VU-tiered quality gates that scale thresholds with concurrency level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include per-host telemetry summaries and load-correlation analysis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Lighthouse Scoring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Performance, Accessibility, Best Practices &amp; SEO scores are determined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Score Breakdown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09728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average of 5 lab metrics, each scored on a log-normal curve from HTTP Archive data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45920"/>
          <a:ext cx="91440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8288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FCP (First Contentful Paint)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18C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1.8s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 Index (SI)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18C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3.4s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LCP (Largest Contentful Paint)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18C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2.5s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TBT (Total Blocking Time)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18C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200ms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CLS (Cumulative Layout Shift)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818CF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0.1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457200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16A34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4572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90  Good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840480" y="457200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CA8A04"/>
          </a:solidFill>
          <a:ln/>
        </p:spPr>
      </p:sp>
      <p:sp>
        <p:nvSpPr>
          <p:cNvPr id="10" name="Text 7"/>
          <p:cNvSpPr/>
          <p:nvPr/>
        </p:nvSpPr>
        <p:spPr>
          <a:xfrm>
            <a:off x="3840480" y="4572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50–89  Needs Improvement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949440" y="4572000"/>
            <a:ext cx="2743200" cy="548640"/>
          </a:xfrm>
          <a:prstGeom prst="roundRect">
            <a:avLst>
              <a:gd name="adj" fmla="val 8333"/>
            </a:avLst>
          </a:prstGeom>
          <a:solidFill>
            <a:srgbClr val="DC2626"/>
          </a:solidFill>
          <a:ln/>
        </p:spPr>
      </p:sp>
      <p:sp>
        <p:nvSpPr>
          <p:cNvPr id="12" name="Text 9"/>
          <p:cNvSpPr/>
          <p:nvPr/>
        </p:nvSpPr>
        <p:spPr>
          <a:xfrm>
            <a:off x="6949440" y="457200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50  Poor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Lighthouse Categories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Accessibility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~50 axe-core + WCAG 2.1 audits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passing ÷ applicable × 100, equally weighted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Practices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~15 modern web &amp; security audits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passing ÷ applicable × 100, equally weighted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~13 technical SEO audits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passing ÷ applicable × 100, equally weighted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That Influence Scores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Device: desktop (no throttling) vs. mobile (4× CPU, simulated 4G) — switching to desktop typically +10–30 Performance 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iterations (n_runs): median across 5–10 runs reduces variance; single runs fluctuate ±5–8 pts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Viewport size: affects which element is LCP, image loading, CLS measurement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 conditions: Lighthouse simulates throttling but actual network speed also matters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warm/cold state: cold caches on first run after deploy degrade TTFB and scores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Third-party scripts: ads, analytics, chat widgets add 500ms–2s TBT — blocking them isolates own code performance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Gates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pass/fail gating with configurable quorum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Types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412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 Type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metric limits (e.g., LCP ≤ 2500ms, Performance ≥ 90)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Baseline-Relative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against baseline percentiles (e.g., fail if LCP &gt; p75 + 10%)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Statistical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± N × stddev from historical baseline data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VU-Tiered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Thresholds that scale with virtual user concurrency level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Server-Resource Floor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CPU, memory, event-loop lag conditions from telemetry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Capacity-Floor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Minimum sustainable VUs with headroom calculation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Gating Strategy: Configurable Quorum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Default: 3-of-5 — a metric must fail 3 of the last 5 runs to trigger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Per-severity defaults: warn/advisory = 1-of-3, block = 3-of-5, page = 4-of-5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Gate-level overrides for window_size and required_failures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overrides with audit trail — engineers can acknowledge and proceed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integration: gate results posted as GitHub Check Runs and commit statuses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gate-summary comments with collapsible blocking/warning/passed sections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Slack/webhook notifications on gate failures for immediate visibility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 Intelligence &amp; Analytics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insights, anomaly detection, and forecasting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Features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Attribution — permutation-based feature importance for regression root-cause analysis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Prophet Forecasting — trend + weekly seasonality decomposition with prediction intervals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Change-Point Detection — CUSUM and EWMA algorithms on metric time series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Root-Cause Attribution — phase-level and request-level timing distribution comparison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Anomaly Management — severity workflow: open → acknowledged → resolved with feedback loop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Planning — saturation detection, headroom estimation, infrastructure recommendations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Reports — automated 7/30/90-day performance digests via Slack/webhook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RUM Integration — real-user monitoring p75 aggregation and CrUX snapshot support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pages organized into 4 navigation groups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Pages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869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Dashboard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Home view — overview counters, recent runs, KPI averages, metric relationship diagram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Results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Per-run detail — Lighthouse scores, CWV gauges, radar chart, time waterfall, score breakdown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Time-series charts of performance metrics with environment filtering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reports (7/30/90-day summaries), CWV p75, pass rates, anomaly counts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Knowledge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Metrics glossary, optimization guide, testing methodology, threshold reference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Analysis Pages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869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list, manual launcher, run detail with gate results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Script management with templates (Lighthouse Audit, Multi-Page Flow, SPA Nav, etc.)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Natural-language test authoring with pipeline visualization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Test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profile launcher, VU-minutes, cost, status filter, completed run metrics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Schedules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Cron-based schedule management with enable/disable toggles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gate configuration (threshold, baseline, statistical, VU-tiered)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Side-by-side run comparison with bar charts, diff table, waterfall/filmstrip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Anomalies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Anomaly feed with filters, trend chart, severity badges, resolution actions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Intelligence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SHAP, Prophet forecasting, RUM, CrUX, capacity, mobile-vs-desktop, multi-geo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Regression timeline, attribution panel, gate status, baseline comparison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Interactive Appendix C checklist with auto-evaluation and KPI reference guide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Security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 auth with security hardening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 &amp; Security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JWT-based authentication — global AuthGuard on all API endpoints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Passwords hashed with scryptSync (64-byte key, 32-byte random salt)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limiting: auth endpoints 5 req/60s, session-upgrade 2 req/60s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Helmet security headers (X-Frame-Options, CSP, HSTS)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encryption: GitHub tokens encrypted at rest with AES-256-GCM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Startup warnings when JWT_SECRET or TOKEN_ENCRYPTION_KEY use insecure defaults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Reset tokens suppressed in production (NODE_ENV=production)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login errors — never reveal whether an account exists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Parameterized SQL throughout — no string interpolation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UUID validation on session-upgrade to prevent enumeration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Role-Based Access Control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8869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Permissions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access — manage users, projects, channels, environments, all CRUD. See all scripts/runs across all users.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 tests, create scripts, view all data within assigned projects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Viewer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access to dashboards and results within assigned projects. Own scripts/runs only.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&amp; CI/CD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Compose, GitHub Actions, environment configuration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orchestrates 4 services: Postgres, API, Dashboard, Worker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 Dockerfiles per service in /docker/ directory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One-command setup: docker compose up --build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 runs as optional profile: docker compose --profile worker up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dev setup: 3 terminals — API (port 4000), Dashboard (port 4200), Worker (poll loop)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pipeline: GitHub Actions runs tests → lint → build → DB migration verification on every push/PR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 variables control ports, database URL, API endpoints, polling intervals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Endpoint Summary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200400"/>
                <a:gridCol w="5212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Group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Endpoints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Operations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Projects, Runs, Scripts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CRUD, claim, complete, versions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 &amp; Schedules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Gates, Schedules, Baselines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Create, evaluate, refresh, cron management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Analytics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Trends, Anomalies, Attribution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Time-series, change-point detection, root-cause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Intelligence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SHAP, Forecast, RUM, CrUX, Capacity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Attribution, prediction, monitoring, planning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Testing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Profiles, Runs, Telemetry, Correlation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Staged ramp, VU gates, cost estimation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&amp; RBAC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Auth, Users, Members, Notifications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Register, login, roles, channels, audit log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Quality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10698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API: Jest — 87 suites, 1050 tests (controllers, services, guards, security)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Dashboard: Jest — 24 suites, 771 tests (page logic, anomalies, trends, auth)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Worker: Vitest — 10 suites, 205 tests (engine, stats, adapters, journey)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Shared: Vitest — 1 suite, 135 tests (validators, shared utilities)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Total: 122 suites, 2161 tests across all packages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CI: GitHub Actions — test → lint → build → DB migration verification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audit: session-upgrade hardened, startup warnings, UUID validation, parameterized SQL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Web Vitals — Threshold Reference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828800" cy="36576"/>
          </a:xfrm>
          <a:prstGeom prst="rect">
            <a:avLst/>
          </a:prstGeom>
          <a:solidFill>
            <a:srgbClr val="6366F1"/>
          </a:solidFill>
          <a:ln/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88720"/>
          <a:ext cx="91440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56032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Needs Improvement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8FAF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366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LCP (Largest Contentful Paint)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2.5s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2.5s – 4.0s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4.0s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FCP (First Contentful Paint)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1.8s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1.8s – 3.0s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3.0s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INP (Interaction to Next Paint)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200ms – 500ms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500ms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CLS (Cumulative Layout Shift)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0.1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 – 0.25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0.25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TTFB (Time to First Byte)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800ms – 1.8s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1.8s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TBT (Total Blocking Time)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200ms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200ms – 600ms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600ms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 (Speed Index)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3.4s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3.4s – 5.8s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5.8s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TTI (Time to Interactive)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3.8s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3.8s – 7.3s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7.3s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Lighthouse Score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– 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&lt; 50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41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926080"/>
            <a:ext cx="12192000" cy="54864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Demo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github.com/jj-shen99/uxperf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2026-06-02T17:38:20Z</dcterms:created>
  <dcterms:modified xsi:type="dcterms:W3CDTF">2026-06-02T17:38:20Z</dcterms:modified>
</cp:coreProperties>
</file>